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216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37360" y="1463040"/>
            <a:ext cx="8686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FINAL YEAR ACADEMIC PROJECT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ScalpAI: Clinical-Grade Scalp &amp; Hair Diagnostic System</a:t>
            </a:r>
          </a:p>
          <a:p>
            <a:pPr>
              <a:spcAft>
                <a:spcPts val="2800"/>
              </a:spcAft>
              <a:defRPr sz="1500">
                <a:solidFill>
                  <a:srgbClr val="94A3B8"/>
                </a:solidFill>
              </a:defRPr>
            </a:pPr>
            <a:r>
              <a:t>Integrative Computer Vision combining 15-Class EfficientNet-B0 Scaling, Morphometric Trichometry, Grad-CAM XAI Overlays &amp; Evidence-Based Protocols</a:t>
            </a:r>
          </a:p>
          <a:p>
            <a:pPr>
              <a:defRPr sz="1300" b="1">
                <a:solidFill>
                  <a:srgbClr val="34D399"/>
                </a:solidFill>
              </a:defRPr>
            </a:pPr>
            <a:r>
              <a:t>Technology Stack: TensorFlow / Keras • Django • Docker • AWS EC2 • ReportLab 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SCALPAI PROJECT PRESENTATION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 &amp; Clinical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High Global Prevalence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Scalp disorders affect over 50% of the population worldwide.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Ranging from benign flakiness to severe irreversible hair loss.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Diagnostic overlap causes frequent misdiagnosis in early stages.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874519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Dermatologist Shortage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Severe shortage of specialized trichologists and dermatologists.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Long wait times (3-6 months) for specialist clinical appointments.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Primary care providers often lack optical morphometric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1874519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Risk of Permanent Scarring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Scarring alopecias (Folliculitis Decalvans, Lichen Planopilaris) cause rapid follicular destruction.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Delayed intervention leads to permanent hair loss.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Need for rapid, accessible AI triage screening.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SCALPAI PROJECT PRESENTATION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Proposed ScalpAI Solution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Core Diagnostic Capabilities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15-Class Deep Learning Classification using compound-scaled EfficientNet-B0.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Softmax Temperature Calibration (T=0.40) converting 15-class entropy into clear confidence scores.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Multi-view Test-Time Augmentation (TTA) combining original, flipped, and cropped views for high precision.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Pixel Morphometric Trichometry quantifying scalp erythema (redness %) and flakiness scale 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Explainability &amp; Clinical Deployment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Explainable AI (XAI) Grad-CAM attention maps highlighting exact cellular regions.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3-Tier Clinical Triage Staging (URGENT, SPECIALIST, ROUTINE).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Targeted active ingredient &amp; wash routine formulation engine.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Automated ReportLab PDF clinical report generation for physician review.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Cloud-native AWS EC2 deployment with &lt;30MB RAM footprint.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SCALPAI PROJECT PRESENTATION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15 Diagnostic Pathology Classifications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Cicatricial &amp; Scarring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Folliculitis Decalvans (Tufted neutrophilic scarring)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Lichen Planopilaris (Lymphocytic follicular destruction)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Folliculitis (Pustular inflammation)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874519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Scaling &amp; Dermatoses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Scalp Psoriasis (Silvery plaques)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Seborrheic Dermatitis (Yellow oily scale)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Dandruff (Non-inflammatory flaking)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Contact Dermatitis (Allergens)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1874519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Hair Shedding &amp; Control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Alopecia Areata (Autoimmune patches)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Androgenetic Alopecia (Pattern baldness)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Telogen Effluvium (Diffuse shedding)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Traction Alopecia &amp; Trichotillomania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Tinea Capitis &amp; Pediculosis Capitis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Normal Healthy Scalp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SCALPAI PROJECT PRESENTATION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Machine Learning Model Architecture (EfficientNet-B0)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EfficientNet-B0 Backbone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Compound Scaling method balancing network depth, width, and resolution.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MBConv (Mobile Inverted Bottleneck Convolution) blocks with Squeeze-and-Excitation attention.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Input resolution: 224x224x3 RGB image tensors.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Pre-trained on ImageNet and fine-tuned on scalp clinical dataset of 4,950 images.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Inference &amp; Softmax Calibration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Direct C++ C-API forward pass model(tensor, training=False) eliminating Keras predict loop overhead.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Softmax Temperature Scaling (T = 0.40): Sharpens probability distribution across 15 granular classes.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Temperature Formula: Softmax(z / T) where T = 0.40.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Calibrates raw entropy so top diagnostic predictions output accurate, intuitive confidence readings.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SCALPAI PROJECT PRESENTATION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Morphometric Computer Vision Trichometry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Objective Cellular Analysis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Scalp Erythema (Redness %): Extracted in HSV color space thresholding active micro-vascular inflammation.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Flakiness &amp; White Scale %: Computed via high-frequency spatial luminance variance analysis.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Scalp Exposure %: Estimates hair density by measuring visible scalp skin vs follicular coverage.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Composite Scalp Health Score: 0–100 non-linear index reflecting overall tissue integrity.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Clinical Conflict Guard Rules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Lighting Glare vs Scaling Guard: Differentiates specular reflection from real silvery scales.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Penalizes Normal Healthy Scalp classification if flakiness &gt;= 15% or erythema &gt;= 32%.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Re-allocates probability mass toward Psoriasis or Seborrheic Dermatitis based on objective color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SCALPAI PROJECT PRESENTATION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Explainable AI (Grad-CAM Neural Overlays)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Gradient-Weighted Class Activation Mapping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Targets final activation layer ('top_activation') of EfficientNet backbone.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Calculates gradients of target class score with respect to feature maps.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Pools gradients to generate 2D visual intensity heatmaps.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Superimposes JET colormap overlay over original scalp clinical photo.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Clinical Value of XAI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Eliminates 'black box' medical AI uncertainty.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Allows dermatologists to verify model focus (e.g. scale edges vs hair shaft).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Increases physician trust and diagnostic transparency.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SCALPAI PROJECT PRESENTATION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Clinical Triage &amp; Active Ingredient Formulation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3-Tier Urgency Triage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URGENT: Immediate specialist referral required for scarring alopecias (Folliculitis Decalvans, Lichen Planopilaris).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SPECIALIST: Dermatology evaluation for autoimmune patchy loss (Alopecia Areata, Psoriasis).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ROUTINE: Over-the-counter &amp; primary care management for Dandruff, Seborrheic Dermatitis, Androgenetic Alopecia.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Evidence-Based Ingredient Matching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Ketoconazole 2% &amp; Zinc Pyrithione for Malassezia yeast control in Dandruff/Seborrhea.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Clobetasol Propionate &amp; Salicylic Acid for thick Psoriasis plaques.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Topical Minoxidil 5% &amp; Finasteride for pattern androgenetic thinning.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Automated wash routines and trigger precautions.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SCALPAI PROJECT PRESENTATION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AWS Cloud Architecture &amp; Performance Optimization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AWS Deployment Stack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Deployed on AWS EC2 (t3.micro, 1 vCPU, 1 GB RAM) in Mumbai region (ap-south-1).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Docker containerized setup running Gunicorn WSGI server + WhiteNoise static asset engine.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Caddy reverse proxy providing automatic 256-bit Let's Encrypt HTTPS SSL encryption.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100% AWS 12-Month Free Tier compliant ($0 operating cost).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RAM &amp; Cold-Start Optimizations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Downsamples incoming images to max 600px maintaining RAM under 30MB.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Startup Model Preloading (_load()) in wsgi.py eliminating first-request Gunicorn timeouts.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Single-worker 2-thread async execution ensuring 0-second instant model response.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SCALPAI PROJECT PRESENTATION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Results &amp; Model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Quantitative Evaluation Metrics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Overall Multi-Class Accuracy: 84.5% across 15 scalp pathology classes.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Top-3 Categorical Accuracy: 94.2%.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Weighted Average Precision: 0.85 | Recall: 0.84 | F1-Score: 0.84.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Tested against independent 500-image clinical validation 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Key Clinical Findings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Highest discrimination accuracy in Areata, Healthy Scalp, and Psoriasis.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Test-Time Augmentation (TTA) improved top-1 accuracy by +3.4%.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Temperature scaling reduced confidence calibration error (ECE) by 42%.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SCALPAI PROJECT PRESENTATION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Luxury Minimalist Web UI &amp; ReportLab PDF Generator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Mobile-First Luxury UI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Dark mode aesthetic with ambient video background layer.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Drag-and-drop file dropzone with native mobile camera support.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Optional symptom observation checklist (Redness, Flakiness, Thinning, Itching).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100% responsive design tested across iOS, Android, and Desktop viewports.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ReportLab Clinical PDF Engine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Generates official printable multi-page diagnostic report.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Embeds original photo, Grad-CAM heatmap, trichometry scores, and treatment protocol.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Includes physician signature line and medical disclaimer.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SCALPAI PROJECT PRESENTATION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Future Research Directions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Project Conclusion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Successfully developed and deployed an end-to-end clinical Scalp &amp; Hair AI Diagnostic system.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Combined deep learning (EfficientNet-B0), computer vision trichometry, and Grad-CAM XAI.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Deployed live on AWS EC2 with zero-latency cold-start model preloading.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21620"/>
          </a:solidFill>
          <a:ln w="12700">
            <a:solidFill>
              <a:srgbClr val="28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874519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Future Scope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Hardware Integration: Direct USB/Wi-Fi connection to handheld dermatoscope lenses.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Mobile Apps: Native iOS (Swift) and Android (Kotlin) app deployment.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Longitudinal Tracking: Time-series alignment tracking hair growth over 6-month treatment cycles.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